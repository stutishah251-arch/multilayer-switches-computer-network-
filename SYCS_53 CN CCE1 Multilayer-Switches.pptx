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Petrona Bold" panose="020B0604020202020204" charset="0"/>
      <p:regular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B8587E-09CE-4267-9812-EB409266DB83}" v="3" dt="2026-07-03T14:26:21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3117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524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793081"/>
            <a:ext cx="4178573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Multilayer Switches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496119" y="2470845"/>
            <a:ext cx="488477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High-performance networking that bridges switching and routing — built for the demands of modern enterprise infrastructure.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96119" y="3083942"/>
            <a:ext cx="1660773" cy="266402"/>
          </a:xfrm>
          <a:prstGeom prst="roundRect">
            <a:avLst>
              <a:gd name="adj" fmla="val 17880"/>
            </a:avLst>
          </a:prstGeom>
          <a:solidFill>
            <a:srgbClr val="1C113B"/>
          </a:solidFill>
          <a:ln/>
        </p:spPr>
      </p:sp>
      <p:sp>
        <p:nvSpPr>
          <p:cNvPr id="6" name="Text 3"/>
          <p:cNvSpPr/>
          <p:nvPr/>
        </p:nvSpPr>
        <p:spPr>
          <a:xfrm>
            <a:off x="637542" y="3131986"/>
            <a:ext cx="194786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ENTERPRISE NETWORKING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227734" y="3083942"/>
            <a:ext cx="1213545" cy="266402"/>
          </a:xfrm>
          <a:prstGeom prst="roundRect">
            <a:avLst>
              <a:gd name="adj" fmla="val 17880"/>
            </a:avLst>
          </a:prstGeom>
          <a:noFill/>
          <a:ln/>
          <a:effectLst>
            <a:outerShdw blurRad="101600" dist="50800" dir="16200000" algn="bl" rotWithShape="0">
              <a:srgbClr val="876CD4">
                <a:alpha val="10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312789" y="3126432"/>
            <a:ext cx="150063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876C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LAYER 2 &amp; LAYER 3</a:t>
            </a:r>
            <a:endParaRPr lang="en-US" sz="8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FAC371-7D97-55BD-8095-00B88F14CA10}"/>
              </a:ext>
            </a:extLst>
          </p:cNvPr>
          <p:cNvSpPr txBox="1"/>
          <p:nvPr/>
        </p:nvSpPr>
        <p:spPr>
          <a:xfrm>
            <a:off x="496119" y="3509812"/>
            <a:ext cx="254185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Made by Stuti Shah</a:t>
            </a:r>
          </a:p>
          <a:p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SYCS_53</a:t>
            </a:r>
          </a:p>
          <a:p>
            <a:r>
              <a:rPr lang="en-US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PRN: 125BTCS1057</a:t>
            </a:r>
            <a:endParaRPr lang="en-IN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07789"/>
            <a:ext cx="3867969" cy="327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Is a Multilayer Switch?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25" y="918717"/>
            <a:ext cx="4891807" cy="27720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54692" y="1938666"/>
            <a:ext cx="3198177" cy="13786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 </a:t>
            </a: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multilayer switch (MLS)</a:t>
            </a: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is an advanced networking device that combines the functions of a traditional Layer 2 switch with Layer 3 routing capabilities — all within a single hardware platform.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7393" y="3916709"/>
            <a:ext cx="2670572" cy="72562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08470" y="4030637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Layer 2 Switching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308470" y="4194125"/>
            <a:ext cx="2385566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Forwards frames using MAC addresses at wire speed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28802" y="3916709"/>
            <a:ext cx="2670572" cy="72562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199880" y="4030637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Layer 3 Routing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3199880" y="4172247"/>
            <a:ext cx="2385566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Routes packets between VLANs using IP addresses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8495" y="3916709"/>
            <a:ext cx="2670572" cy="725629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189573" y="4030637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Unified Platform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7"/>
          <p:cNvSpPr/>
          <p:nvPr/>
        </p:nvSpPr>
        <p:spPr>
          <a:xfrm>
            <a:off x="6189573" y="4194125"/>
            <a:ext cx="2385566" cy="271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Eliminates the need for a separate router in many designs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8DAB18-AA69-3D4C-45C4-0F68C6B91FA2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34988"/>
            <a:ext cx="4178573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OSI Layer Operation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96119" y="1483668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Multilayer switches operate intelligently across two critical layers of the OSI model, enabling both fast switching and smart routing decisions.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6119" y="2096765"/>
            <a:ext cx="2622724" cy="2311747"/>
          </a:xfrm>
          <a:prstGeom prst="roundRect">
            <a:avLst>
              <a:gd name="adj" fmla="val 2576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2640" y="2243286"/>
            <a:ext cx="425276" cy="425276"/>
          </a:xfrm>
          <a:prstGeom prst="ellipse">
            <a:avLst/>
          </a:prstGeom>
          <a:solidFill>
            <a:srgbClr val="9A81D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619" y="2360191"/>
            <a:ext cx="191319" cy="1913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2640" y="2810321"/>
            <a:ext cx="1860649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Layer 2 — Data Link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2640" y="3127921"/>
            <a:ext cx="2329681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Reads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MAC addresses</a:t>
            </a: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to forward Ethernet frames within a broadcast domain. Builds and references a MAC address table for fast lookups.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260601" y="2096765"/>
            <a:ext cx="2622724" cy="2311747"/>
          </a:xfrm>
          <a:prstGeom prst="roundRect">
            <a:avLst>
              <a:gd name="adj" fmla="val 2576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07122" y="2243286"/>
            <a:ext cx="425276" cy="425276"/>
          </a:xfrm>
          <a:prstGeom prst="ellipse">
            <a:avLst/>
          </a:prstGeom>
          <a:solidFill>
            <a:srgbClr val="9A81D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4101" y="2360191"/>
            <a:ext cx="191319" cy="1913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07122" y="2810321"/>
            <a:ext cx="1860649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Layer 3 — Network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407122" y="3127921"/>
            <a:ext cx="232968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Inspects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IP headers</a:t>
            </a: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to route packets between subnets or VLANs. Maintains a routing table for intelligent next-hop decisions.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6025083" y="2096765"/>
            <a:ext cx="2622724" cy="2311747"/>
          </a:xfrm>
          <a:prstGeom prst="roundRect">
            <a:avLst>
              <a:gd name="adj" fmla="val 2576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171605" y="2243286"/>
            <a:ext cx="425276" cy="425276"/>
          </a:xfrm>
          <a:prstGeom prst="ellipse">
            <a:avLst/>
          </a:prstGeom>
          <a:solidFill>
            <a:srgbClr val="9A81D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88584" y="2360191"/>
            <a:ext cx="191319" cy="19131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71605" y="2810321"/>
            <a:ext cx="1860649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Hardware Forwarding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6171605" y="3127921"/>
            <a:ext cx="2329681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Both layers leverage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ASICs</a:t>
            </a:r>
            <a:r>
              <a:rPr lang="en-US" sz="13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(Application-Specific Integrated Circuits) for near-wire-speed packet processing with minimal CPU overhead.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4BBF5D8-E17D-F278-2580-EC45446FF381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0234"/>
            <a:ext cx="7101632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How It Works: The Forwarding Pipeline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2407" y="1188913"/>
            <a:ext cx="6339185" cy="290125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56361" y="3275116"/>
            <a:ext cx="1190142" cy="481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ASIC Forwarding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4756456" y="3395481"/>
            <a:ext cx="1190143" cy="240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IP Lookup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264702" y="3395481"/>
            <a:ext cx="1190142" cy="2407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MAC Lookup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740341" y="3395481"/>
            <a:ext cx="1190142" cy="481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Frame Arrives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96119" y="4249638"/>
            <a:ext cx="8151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By processing packets in hardware via ASICs rather than software, multilayer switches achieve </a:t>
            </a: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sub-microsecond forwarding decisions</a:t>
            </a: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— far faster than traditional router-based designs.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132CC0-6FB3-9539-DA41-2459C7C2BCF6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Inverted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00273"/>
            <a:ext cx="3597101" cy="3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Features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25119" y="944166"/>
            <a:ext cx="239167" cy="23916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925119" y="1309464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Inter-VLAN Routing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3925119" y="1566193"/>
            <a:ext cx="4722763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Routes traffic between VLANs without a separate router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25119" y="1944365"/>
            <a:ext cx="239167" cy="23916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925119" y="2309664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High-Speed Routing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4"/>
          <p:cNvSpPr/>
          <p:nvPr/>
        </p:nvSpPr>
        <p:spPr>
          <a:xfrm>
            <a:off x="3925119" y="2566392"/>
            <a:ext cx="4722763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ASIC-based forwarding delivers near-wire-speed performance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25119" y="2944564"/>
            <a:ext cx="239167" cy="23916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925119" y="3309863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ACLs &amp; Security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3925119" y="3566592"/>
            <a:ext cx="4722763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Access Control Lists filter traffic at line rate for granular security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925119" y="3944764"/>
            <a:ext cx="239167" cy="239167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925119" y="4310063"/>
            <a:ext cx="1569913" cy="196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QoS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8"/>
          <p:cNvSpPr/>
          <p:nvPr/>
        </p:nvSpPr>
        <p:spPr>
          <a:xfrm>
            <a:off x="3925119" y="4566791"/>
            <a:ext cx="4722763" cy="176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Classifies and prioritizes traffic to guarantee performance for critical applications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D828A5-DCB5-27FC-3C5B-5EB4CBB94BB8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29816"/>
            <a:ext cx="6043761" cy="4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Advantages Over Traditional Routers</a:t>
            </a:r>
            <a:endParaRPr lang="en-US" sz="2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392510"/>
            <a:ext cx="5190753" cy="29413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99708" y="1139205"/>
            <a:ext cx="284038" cy="284038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96186" y="1182588"/>
            <a:ext cx="16571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Faster Than Routers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396186" y="1403151"/>
            <a:ext cx="2256383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Hardware-based ASIC forwarding outperforms software-based routing CPUs, delivering significantly lower latency.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999708" y="2490788"/>
            <a:ext cx="284038" cy="284038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96186" y="2534171"/>
            <a:ext cx="16571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Scalability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396186" y="2779329"/>
            <a:ext cx="2256383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Supports hundreds of VLANs and thousands of MAC addresses, scaling gracefully with enterprise growth.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999708" y="3651424"/>
            <a:ext cx="284038" cy="284038"/>
          </a:xfrm>
          <a:prstGeom prst="roundRect">
            <a:avLst>
              <a:gd name="adj" fmla="val 18670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96186" y="3694807"/>
            <a:ext cx="1657127" cy="207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Reduced Congestion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396186" y="3958120"/>
            <a:ext cx="2256383" cy="572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Local routing keeps inter-VLAN traffic on the switch fabric, eliminating hair-pinning through an external router.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C55ED5-A196-3052-E6D7-6BE4477D91BB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p:transition spd="slow">
    <p:comb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0982"/>
            <a:ext cx="4523184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Limitations to Consider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96119" y="1579662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Multilayer switches are powerful, but they come with trade-offs that network architects must evaluate.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965945"/>
            <a:ext cx="4004965" cy="11023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3127" y="2126754"/>
            <a:ext cx="1860649" cy="242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💰</a:t>
            </a:r>
            <a:r>
              <a:rPr lang="en-US" sz="14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Higher Cost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33127" y="2453878"/>
            <a:ext cx="36071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MLS devices carry a premium over basic Layer 2 switches due to advanced hardware and licensing.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2842" y="1965945"/>
            <a:ext cx="4005039" cy="11023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79851" y="2126754"/>
            <a:ext cx="2502396" cy="242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⚙️</a:t>
            </a:r>
            <a:r>
              <a:rPr lang="en-US" sz="14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Configuration Complexity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4879851" y="2453878"/>
            <a:ext cx="36072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Requires expertise in routing protocols, VLAN design, ACLs, and QoS policies</a:t>
            </a:r>
            <a:r>
              <a:rPr lang="en-US" sz="11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3210074"/>
            <a:ext cx="4004965" cy="110237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33127" y="3370883"/>
            <a:ext cx="2621533" cy="242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🌐</a:t>
            </a:r>
            <a:r>
              <a:rPr lang="en-US" sz="14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Limited WAN Functionality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733127" y="3698007"/>
            <a:ext cx="36071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MLS devices are optimized for LAN environments and lack advanced WAN features like MPLS or SD-WAN.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2842" y="3210074"/>
            <a:ext cx="4005039" cy="110237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79851" y="3370883"/>
            <a:ext cx="1860649" cy="2420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📚</a:t>
            </a:r>
            <a:r>
              <a:rPr lang="en-US" sz="14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5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Learning Curve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879851" y="3698007"/>
            <a:ext cx="36072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Teams must be trained on both switching and routing concepts to manage these devices effectively.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E7DA9E-1C0F-4C29-64DA-3E862801D881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900">
        <p14:glitter pattern="hexagon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28848"/>
            <a:ext cx="3861420" cy="377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Real-World Applications</a:t>
            </a:r>
            <a:endParaRPr lang="en-US" sz="2350" dirty="0"/>
          </a:p>
        </p:txBody>
      </p:sp>
      <p:sp>
        <p:nvSpPr>
          <p:cNvPr id="4" name="Shape 1"/>
          <p:cNvSpPr/>
          <p:nvPr/>
        </p:nvSpPr>
        <p:spPr>
          <a:xfrm>
            <a:off x="3925119" y="947068"/>
            <a:ext cx="4810918" cy="661392"/>
          </a:xfrm>
          <a:prstGeom prst="roundRect">
            <a:avLst>
              <a:gd name="adj" fmla="val 7315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045000" y="1066949"/>
            <a:ext cx="151179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🏢</a:t>
            </a:r>
            <a:r>
              <a:rPr lang="en-US" sz="11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Enterprise LANs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045000" y="1321594"/>
            <a:ext cx="4483001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Core and distribution layer switching for large office networks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925119" y="1701998"/>
            <a:ext cx="4810918" cy="661392"/>
          </a:xfrm>
          <a:prstGeom prst="roundRect">
            <a:avLst>
              <a:gd name="adj" fmla="val 7315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45000" y="1821879"/>
            <a:ext cx="151179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🖥️</a:t>
            </a:r>
            <a:r>
              <a:rPr lang="en-US" sz="11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Data Centers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045000" y="2076524"/>
            <a:ext cx="4483001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High-density, low-latency interconnect for server clusters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3925119" y="2456929"/>
            <a:ext cx="4810918" cy="661392"/>
          </a:xfrm>
          <a:prstGeom prst="roundRect">
            <a:avLst>
              <a:gd name="adj" fmla="val 7315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45000" y="2576810"/>
            <a:ext cx="1956643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🎓</a:t>
            </a:r>
            <a:r>
              <a:rPr lang="en-US" sz="11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Universities &amp; Campuses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045000" y="2831455"/>
            <a:ext cx="4483001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Segmented networks for students, faculty, and research labs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925119" y="3211860"/>
            <a:ext cx="4810918" cy="661392"/>
          </a:xfrm>
          <a:prstGeom prst="roundRect">
            <a:avLst>
              <a:gd name="adj" fmla="val 7315"/>
            </a:avLst>
          </a:prstGeom>
          <a:solidFill>
            <a:srgbClr val="2F1D63"/>
          </a:solidFill>
          <a:ln w="4763">
            <a:solidFill>
              <a:srgbClr val="483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45000" y="3331741"/>
            <a:ext cx="1613148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0000"/>
                </a:solidFill>
                <a:latin typeface="Times New Roman" panose="02020603050405020304" pitchFamily="18" charset="0"/>
                <a:ea typeface="Twemoji Mozilla" pitchFamily="34" charset="-122"/>
                <a:cs typeface="Times New Roman" panose="02020603050405020304" pitchFamily="18" charset="0"/>
              </a:rPr>
              <a:t>🏭</a:t>
            </a:r>
            <a:r>
              <a:rPr lang="en-US" sz="115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</a:t>
            </a:r>
            <a:r>
              <a:rPr lang="en-US" sz="13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Industrial Networks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040238" y="3586386"/>
            <a:ext cx="448776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Reliable, segmented infrastructure for manufacturing and OT environments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925119" y="3978473"/>
            <a:ext cx="4810918" cy="736104"/>
          </a:xfrm>
          <a:prstGeom prst="roundRect">
            <a:avLst>
              <a:gd name="adj" fmla="val 6572"/>
            </a:avLst>
          </a:prstGeom>
          <a:solidFill>
            <a:srgbClr val="2F1D63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237" y="4116658"/>
            <a:ext cx="259035" cy="2072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99272" y="4100736"/>
            <a:ext cx="4233490" cy="500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SDG 9 — Industry, Innovation &amp; Infrastructure:</a:t>
            </a:r>
            <a:r>
              <a:rPr lang="en-US" sz="1100" dirty="0">
                <a:solidFill>
                  <a:srgbClr val="FFFFFF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Multilayer switches directly support resilient, scalable network infrastructure — a cornerstone of modern innovation and sustainable industrialization.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F93D6-CCB6-D8B2-7DDF-90121CE5EAB2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13072"/>
            <a:ext cx="8425309" cy="4578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Multilayer Switch vs. Traditional Layer 2 Switch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496119" y="1145679"/>
            <a:ext cx="860896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4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Understanding the differences helps you choose the right device for each network layer.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6119" y="1521619"/>
            <a:ext cx="8151763" cy="3208734"/>
          </a:xfrm>
          <a:prstGeom prst="roundRect">
            <a:avLst>
              <a:gd name="adj" fmla="val 182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482" y="1613520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Feature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3085505" y="1613520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Layer 2 Switch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35266" y="1613520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Multilayer Switch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482" y="2014017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OSI Layers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085505" y="2014017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Layer 2 only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935266" y="2014017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Layer 2 + Layer 3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482" y="2414513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Routing Capability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085505" y="2414513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None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935266" y="2414513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Full IP routing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482" y="2815010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Inter-VLAN Routing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085505" y="2815010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Requires external router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935266" y="2815010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Built-in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0482" y="3215506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Forwarding Speed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085505" y="3215506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Fast (MAC-based)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935266" y="3215506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Very fast (ASIC-based)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0482" y="3616003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ACL &amp; QoS Support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085505" y="3616003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Limited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935266" y="3616003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Advanced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0482" y="4016499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Cost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085505" y="4016499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Lower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935266" y="4016499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Higher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0482" y="4416996"/>
            <a:ext cx="261840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Best Use Case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085505" y="4416996"/>
            <a:ext cx="302314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Access layer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35266" y="4416996"/>
            <a:ext cx="302552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Core / Distribution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60980-77A5-AA88-55E5-0539F546BB4B}"/>
              </a:ext>
            </a:extLst>
          </p:cNvPr>
          <p:cNvSpPr/>
          <p:nvPr/>
        </p:nvSpPr>
        <p:spPr>
          <a:xfrm>
            <a:off x="7955280" y="4818185"/>
            <a:ext cx="1188720" cy="264519"/>
          </a:xfrm>
          <a:prstGeom prst="rect">
            <a:avLst/>
          </a:prstGeom>
          <a:solidFill>
            <a:srgbClr val="0D07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34950"/>
            <a:ext cx="3945954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FF8AA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Key Takeaways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902" y="1061963"/>
            <a:ext cx="199355" cy="19935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28018" y="1057870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Unified Performance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928018" y="1252215"/>
            <a:ext cx="4290864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Multilayer switches deliver </a:t>
            </a: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hardware-accelerated routing and switching</a:t>
            </a: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in a single device, eliminating bottlenecks.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5902" y="2231173"/>
            <a:ext cx="199355" cy="19935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928018" y="2179184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Enterprise-Ready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4"/>
          <p:cNvSpPr/>
          <p:nvPr/>
        </p:nvSpPr>
        <p:spPr>
          <a:xfrm>
            <a:off x="928018" y="2366459"/>
            <a:ext cx="4290864" cy="673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With Inter-VLAN routing, QoS, and ACLs, MLS devices are purpose-built for </a:t>
            </a: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scalable, secure campus and data center networks</a:t>
            </a: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570249"/>
            <a:ext cx="199355" cy="19935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78235" y="3560911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E0D6DE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Strategic Investment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878235" y="3766170"/>
            <a:ext cx="4290864" cy="6179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Despite higher cost and complexity, the </a:t>
            </a:r>
            <a:r>
              <a:rPr lang="en-US" sz="1200" b="1" dirty="0">
                <a:solidFill>
                  <a:srgbClr val="E0D6DE"/>
                </a:solidFill>
                <a:latin typeface="Times New Roman" panose="02020603050405020304" pitchFamily="18" charset="0"/>
                <a:ea typeface="Inter Bold" pitchFamily="34" charset="-122"/>
                <a:cs typeface="Times New Roman" panose="02020603050405020304" pitchFamily="18" charset="0"/>
              </a:rPr>
              <a:t>performance gains and operational simplicity</a:t>
            </a:r>
            <a:r>
              <a:rPr lang="en-US" sz="1200" dirty="0">
                <a:solidFill>
                  <a:srgbClr val="E0D6DE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make MLS the right choice for core network layers.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8"/>
          <p:cNvSpPr/>
          <p:nvPr/>
        </p:nvSpPr>
        <p:spPr>
          <a:xfrm>
            <a:off x="695474" y="4156472"/>
            <a:ext cx="4523408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9000"/>
              </a:lnSpc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676</Words>
  <Application>Microsoft Office PowerPoint</Application>
  <PresentationFormat>On-screen Show (16:9)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Petrona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Stuti</dc:creator>
  <cp:lastModifiedBy>stuti shah</cp:lastModifiedBy>
  <cp:revision>4</cp:revision>
  <dcterms:created xsi:type="dcterms:W3CDTF">2026-07-03T13:55:49Z</dcterms:created>
  <dcterms:modified xsi:type="dcterms:W3CDTF">2026-07-04T03:22:27Z</dcterms:modified>
</cp:coreProperties>
</file>