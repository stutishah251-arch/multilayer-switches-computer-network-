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etrona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8587E-09CE-4267-9812-EB409266DB83}" v="3" dt="2026-07-03T14:26:21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117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3081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Multilayer Switches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2470845"/>
            <a:ext cx="4884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High-performance networking that bridges switching and routing — built for the demands of modern enterprise infrastructure.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3083942"/>
            <a:ext cx="1660773" cy="266402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6" name="Text 3"/>
          <p:cNvSpPr/>
          <p:nvPr/>
        </p:nvSpPr>
        <p:spPr>
          <a:xfrm>
            <a:off x="637542" y="3131986"/>
            <a:ext cx="19478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ENTERPRISE NETWORKING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227734" y="3083942"/>
            <a:ext cx="1213545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876CD4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312789" y="3126432"/>
            <a:ext cx="150063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76CD4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LAYER 2 &amp; LAYER 3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FAC371-7D97-55BD-8095-00B88F14CA10}"/>
              </a:ext>
            </a:extLst>
          </p:cNvPr>
          <p:cNvSpPr txBox="1"/>
          <p:nvPr/>
        </p:nvSpPr>
        <p:spPr>
          <a:xfrm>
            <a:off x="496119" y="3509812"/>
            <a:ext cx="25418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by Stuti Shah</a:t>
            </a:r>
          </a:p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SYCS_53</a:t>
            </a:r>
          </a:p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PRN: 125BTCS1057</a:t>
            </a:r>
            <a:endParaRPr lang="en-IN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789"/>
            <a:ext cx="3867969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a Multilayer Switch?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25" y="918717"/>
            <a:ext cx="4891807" cy="27720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4692" y="1938666"/>
            <a:ext cx="3198177" cy="13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</a:t>
            </a:r>
            <a:r>
              <a:rPr lang="en-US" sz="14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multilayer switch (MLS)</a:t>
            </a:r>
            <a:r>
              <a:rPr lang="en-US" sz="14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is an advanced networking device that combines the functions of a traditional Layer 2 switch with Layer 3 routing capabilities — all within a single hardware platform.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393" y="3916709"/>
            <a:ext cx="2670572" cy="7256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8470" y="4030637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Layer 2 Switching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08470" y="4194125"/>
            <a:ext cx="2385566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Forwards frames using MAC addresses at wire speed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802" y="3916709"/>
            <a:ext cx="2670572" cy="7256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199880" y="4030637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Layer 3 Routing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199880" y="4172247"/>
            <a:ext cx="2385566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Routes packets between VLANs using IP addresses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8495" y="3916709"/>
            <a:ext cx="2670572" cy="7256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89573" y="4030637"/>
            <a:ext cx="13082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Unified Platform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189573" y="4194125"/>
            <a:ext cx="2385566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Eliminates the need for a separate router in many designs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8DAB18-AA69-3D4C-45C4-0F68C6B91FA2}"/>
              </a:ext>
            </a:extLst>
          </p:cNvPr>
          <p:cNvSpPr/>
          <p:nvPr/>
        </p:nvSpPr>
        <p:spPr>
          <a:xfrm>
            <a:off x="7955280" y="4818185"/>
            <a:ext cx="1188720" cy="264519"/>
          </a:xfrm>
          <a:prstGeom prst="rect">
            <a:avLst/>
          </a:prstGeom>
          <a:solidFill>
            <a:srgbClr val="0D0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4988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OSI Layer Operation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48366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Multilayer switches operate intelligently across two critical layers of the OSI model, enabling both fast switching and smart routing decisions.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096765"/>
            <a:ext cx="2622724" cy="2311747"/>
          </a:xfrm>
          <a:prstGeom prst="roundRect">
            <a:avLst>
              <a:gd name="adj" fmla="val 257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" y="2243286"/>
            <a:ext cx="425276" cy="425276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2360191"/>
            <a:ext cx="191319" cy="191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2640" y="281032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Layer 2 — Data Link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2640" y="3127921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Reads </a:t>
            </a: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MAC addresses</a:t>
            </a:r>
            <a:r>
              <a:rPr lang="en-US" sz="13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to forward Ethernet frames within a broadcast domain. Builds and references a MAC address table for fast lookups.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60601" y="2096765"/>
            <a:ext cx="2622724" cy="2311747"/>
          </a:xfrm>
          <a:prstGeom prst="roundRect">
            <a:avLst>
              <a:gd name="adj" fmla="val 257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07122" y="2243286"/>
            <a:ext cx="425276" cy="425276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360191"/>
            <a:ext cx="191319" cy="1913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7122" y="281032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Layer 3 — Network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407122" y="3127921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Inspects </a:t>
            </a: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IP headers</a:t>
            </a:r>
            <a:r>
              <a:rPr lang="en-US" sz="13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to route packets between subnets or VLANs. Maintains a routing table for intelligent next-hop decisions.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25083" y="2096765"/>
            <a:ext cx="2622724" cy="2311747"/>
          </a:xfrm>
          <a:prstGeom prst="roundRect">
            <a:avLst>
              <a:gd name="adj" fmla="val 2576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1605" y="2243286"/>
            <a:ext cx="425276" cy="425276"/>
          </a:xfrm>
          <a:prstGeom prst="ellipse">
            <a:avLst/>
          </a:prstGeom>
          <a:solidFill>
            <a:srgbClr val="9A81D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8584" y="2360191"/>
            <a:ext cx="191319" cy="1913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1605" y="281032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Hardware Forwarding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171605" y="3127921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Both layers leverage </a:t>
            </a: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ASICs</a:t>
            </a:r>
            <a:r>
              <a:rPr lang="en-US" sz="13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(Application-Specific Integrated Circuits) for near-wire-speed packet processing with minimal CPU overhead.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BBF5D8-E17D-F278-2580-EC45446FF381}"/>
              </a:ext>
            </a:extLst>
          </p:cNvPr>
          <p:cNvSpPr/>
          <p:nvPr/>
        </p:nvSpPr>
        <p:spPr>
          <a:xfrm>
            <a:off x="7955280" y="4818185"/>
            <a:ext cx="1188720" cy="264519"/>
          </a:xfrm>
          <a:prstGeom prst="rect">
            <a:avLst/>
          </a:prstGeom>
          <a:solidFill>
            <a:srgbClr val="0D0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234"/>
            <a:ext cx="7101632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It Works: The Forwarding Pipeline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88913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275116"/>
            <a:ext cx="1190142" cy="48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ASIC Forwarding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756456" y="3395481"/>
            <a:ext cx="1190143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IP Lookup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64702" y="3395481"/>
            <a:ext cx="1190142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MAC Lookup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740341" y="3395481"/>
            <a:ext cx="1190142" cy="48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Frame Arrives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6119" y="424963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By processing packets in hardware via ASICs rather than software, multilayer switches achieve </a:t>
            </a:r>
            <a:r>
              <a:rPr lang="en-US" sz="14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sub-microsecond forwarding decisions</a:t>
            </a:r>
            <a:r>
              <a:rPr lang="en-US" sz="14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— far faster than traditional router-based designs.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132CC0-6FB3-9539-DA41-2459C7C2BCF6}"/>
              </a:ext>
            </a:extLst>
          </p:cNvPr>
          <p:cNvSpPr/>
          <p:nvPr/>
        </p:nvSpPr>
        <p:spPr>
          <a:xfrm>
            <a:off x="7955280" y="4818185"/>
            <a:ext cx="1188720" cy="264519"/>
          </a:xfrm>
          <a:prstGeom prst="rect">
            <a:avLst/>
          </a:prstGeom>
          <a:solidFill>
            <a:srgbClr val="0D0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0273"/>
            <a:ext cx="3597101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44166"/>
            <a:ext cx="239167" cy="2391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309464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Inter-VLAN Routing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925119" y="1566193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Routes traffic between VLANs without a separate router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44365"/>
            <a:ext cx="239167" cy="2391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309664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High-Speed Routing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925119" y="2566392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ASIC-based forwarding delivers near-wire-speed performance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944564"/>
            <a:ext cx="239167" cy="2391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309863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ACLs &amp; Security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3925119" y="3566592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Access Control Lists filter traffic at line rate for granular security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944764"/>
            <a:ext cx="239167" cy="23916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310063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QoS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3925119" y="4566791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Classifies and prioritizes traffic to guarantee performance for critical applications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D828A5-DCB5-27FC-3C5B-5EB4CBB94BB8}"/>
              </a:ext>
            </a:extLst>
          </p:cNvPr>
          <p:cNvSpPr/>
          <p:nvPr/>
        </p:nvSpPr>
        <p:spPr>
          <a:xfrm>
            <a:off x="7955280" y="4818185"/>
            <a:ext cx="1188720" cy="264519"/>
          </a:xfrm>
          <a:prstGeom prst="rect">
            <a:avLst/>
          </a:prstGeom>
          <a:solidFill>
            <a:srgbClr val="0D0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816"/>
            <a:ext cx="6043761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Advantages Over Traditional Routers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2510"/>
            <a:ext cx="5190753" cy="29413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99708" y="1139205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96186" y="1182588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Faster Than Routers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96186" y="1403151"/>
            <a:ext cx="2256383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Hardware-based ASIC forwarding outperforms software-based routing CPUs, delivering significantly lower latency.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999708" y="2490788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96186" y="2534171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Scalability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96186" y="2779329"/>
            <a:ext cx="225638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Supports hundreds of VLANs and thousands of MAC addresses, scaling gracefully with enterprise growth.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99708" y="3651424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96186" y="3694807"/>
            <a:ext cx="16571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Reduced Congestion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96186" y="3958120"/>
            <a:ext cx="225638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Local routing keeps inter-VLAN traffic on the switch fabric, eliminating hair-pinning through an external router.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C55ED5-A196-3052-E6D7-6BE4477D91BB}"/>
              </a:ext>
            </a:extLst>
          </p:cNvPr>
          <p:cNvSpPr/>
          <p:nvPr/>
        </p:nvSpPr>
        <p:spPr>
          <a:xfrm>
            <a:off x="7955280" y="4818185"/>
            <a:ext cx="1188720" cy="264519"/>
          </a:xfrm>
          <a:prstGeom prst="rect">
            <a:avLst/>
          </a:prstGeom>
          <a:solidFill>
            <a:srgbClr val="0D0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0982"/>
            <a:ext cx="4523184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 to Consider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15796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Multilayer switches are powerful, but they come with trade-offs that network architects must evaluate.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65945"/>
            <a:ext cx="4004965" cy="11023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126754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💰</a:t>
            </a:r>
            <a:r>
              <a:rPr lang="en-US" sz="145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Higher Cost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3127" y="2453878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MLS devices carry a premium over basic Layer 2 switches due to advanced hardware and licensing.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965945"/>
            <a:ext cx="4005039" cy="11023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9851" y="2126754"/>
            <a:ext cx="2502396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⚙️</a:t>
            </a:r>
            <a:r>
              <a:rPr lang="en-US" sz="145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Configuration Complexity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79851" y="2453878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Requires expertise in routing protocols, VLAN design, ACLs, and QoS policies</a:t>
            </a: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10074"/>
            <a:ext cx="4004965" cy="11023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3127" y="3370883"/>
            <a:ext cx="2621533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🌐</a:t>
            </a:r>
            <a:r>
              <a:rPr lang="en-US" sz="145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Limited WAN Functionality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33127" y="3698007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MLS devices are optimized for LAN environments and lack advanced WAN features like MPLS or SD-WAN.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3210074"/>
            <a:ext cx="4005039" cy="11023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79851" y="3370883"/>
            <a:ext cx="1860649" cy="242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📚</a:t>
            </a:r>
            <a:r>
              <a:rPr lang="en-US" sz="145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15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Learning Curve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879851" y="3698007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Teams must be trained on both switching and routing concepts to manage these devices effectively.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E7DA9E-1C0F-4C29-64DA-3E862801D881}"/>
              </a:ext>
            </a:extLst>
          </p:cNvPr>
          <p:cNvSpPr/>
          <p:nvPr/>
        </p:nvSpPr>
        <p:spPr>
          <a:xfrm>
            <a:off x="7955280" y="4818185"/>
            <a:ext cx="1188720" cy="264519"/>
          </a:xfrm>
          <a:prstGeom prst="rect">
            <a:avLst/>
          </a:prstGeom>
          <a:solidFill>
            <a:srgbClr val="0D0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8848"/>
            <a:ext cx="3861420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Real-World Applications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25119" y="947068"/>
            <a:ext cx="4810918" cy="661392"/>
          </a:xfrm>
          <a:prstGeom prst="roundRect">
            <a:avLst>
              <a:gd name="adj" fmla="val 731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45000" y="1066949"/>
            <a:ext cx="151179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🏢</a:t>
            </a:r>
            <a:r>
              <a:rPr lang="en-US" sz="115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Enterprise LANs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045000" y="1321594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Core and distribution layer switching for large office networks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925119" y="1701998"/>
            <a:ext cx="4810918" cy="661392"/>
          </a:xfrm>
          <a:prstGeom prst="roundRect">
            <a:avLst>
              <a:gd name="adj" fmla="val 731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45000" y="1821879"/>
            <a:ext cx="151179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🖥️</a:t>
            </a:r>
            <a:r>
              <a:rPr lang="en-US" sz="115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Data Centers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45000" y="2076524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High-density, low-latency interconnect for server clusters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925119" y="2456929"/>
            <a:ext cx="4810918" cy="661392"/>
          </a:xfrm>
          <a:prstGeom prst="roundRect">
            <a:avLst>
              <a:gd name="adj" fmla="val 731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5000" y="2576810"/>
            <a:ext cx="1956643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🎓</a:t>
            </a:r>
            <a:r>
              <a:rPr lang="en-US" sz="115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Universities &amp; Campuses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45000" y="2831455"/>
            <a:ext cx="448300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Segmented networks for students, faculty, and research labs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925119" y="3211860"/>
            <a:ext cx="4810918" cy="661392"/>
          </a:xfrm>
          <a:prstGeom prst="roundRect">
            <a:avLst>
              <a:gd name="adj" fmla="val 7315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45000" y="3331741"/>
            <a:ext cx="161314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0000"/>
                </a:solidFill>
                <a:latin typeface="Times New Roman" panose="02020603050405020304" pitchFamily="18" charset="0"/>
                <a:ea typeface="Twemoji Mozilla" pitchFamily="34" charset="-122"/>
                <a:cs typeface="Times New Roman" panose="02020603050405020304" pitchFamily="18" charset="0"/>
              </a:rPr>
              <a:t>🏭</a:t>
            </a:r>
            <a:r>
              <a:rPr lang="en-US" sz="115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</a:t>
            </a:r>
            <a:r>
              <a:rPr lang="en-US" sz="13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Industrial Networks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40238" y="3586386"/>
            <a:ext cx="448776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Reliable, segmented infrastructure for manufacturing and OT environments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925119" y="3978473"/>
            <a:ext cx="4810918" cy="736104"/>
          </a:xfrm>
          <a:prstGeom prst="roundRect">
            <a:avLst>
              <a:gd name="adj" fmla="val 6572"/>
            </a:avLst>
          </a:prstGeom>
          <a:solidFill>
            <a:srgbClr val="2F1D6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237" y="4116658"/>
            <a:ext cx="259035" cy="2072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99272" y="4100736"/>
            <a:ext cx="4233490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SDG 9 — Industry, Innovation &amp; Infrastructure: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Multilayer switches directly support resilient, scalable network infrastructure — a cornerstone of modern innovation and sustainable industrialization.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3F93D6-CCB6-D8B2-7DDF-90121CE5EAB2}"/>
              </a:ext>
            </a:extLst>
          </p:cNvPr>
          <p:cNvSpPr/>
          <p:nvPr/>
        </p:nvSpPr>
        <p:spPr>
          <a:xfrm>
            <a:off x="7955280" y="4818185"/>
            <a:ext cx="1188720" cy="264519"/>
          </a:xfrm>
          <a:prstGeom prst="rect">
            <a:avLst/>
          </a:prstGeom>
          <a:solidFill>
            <a:srgbClr val="0D0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072"/>
            <a:ext cx="8425309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Multilayer Switch vs. Traditional Layer 2 Switch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496119" y="1145679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Understanding the differences helps you choose the right device for each network layer.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521619"/>
            <a:ext cx="8151763" cy="3208734"/>
          </a:xfrm>
          <a:prstGeom prst="roundRect">
            <a:avLst>
              <a:gd name="adj" fmla="val 182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482" y="1613520"/>
            <a:ext cx="2618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Feature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85505" y="1613520"/>
            <a:ext cx="3023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Layer 2 Switch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35266" y="1613520"/>
            <a:ext cx="30255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Multilayer Switch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482" y="2014017"/>
            <a:ext cx="2618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OSI Layers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85505" y="2014017"/>
            <a:ext cx="3023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Layer 2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35266" y="2014017"/>
            <a:ext cx="30255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Layer 2 + Layer 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482" y="2414513"/>
            <a:ext cx="2618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Routing Capability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85505" y="2414513"/>
            <a:ext cx="3023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35266" y="2414513"/>
            <a:ext cx="30255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Full IP routing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482" y="2815010"/>
            <a:ext cx="2618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Inter-VLAN Routing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85505" y="2815010"/>
            <a:ext cx="3023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Requires external router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35266" y="2815010"/>
            <a:ext cx="30255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Built-in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482" y="3215506"/>
            <a:ext cx="2618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Forwarding Speed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85505" y="3215506"/>
            <a:ext cx="3023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Fast (MAC-based)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35266" y="3215506"/>
            <a:ext cx="30255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Very fast (ASIC-based)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482" y="3616003"/>
            <a:ext cx="2618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ACL &amp; QoS Support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85505" y="3616003"/>
            <a:ext cx="3023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Limited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35266" y="3616003"/>
            <a:ext cx="30255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Advanced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482" y="4016499"/>
            <a:ext cx="2618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085505" y="4016499"/>
            <a:ext cx="3023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Lower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35266" y="4016499"/>
            <a:ext cx="30255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482" y="4416996"/>
            <a:ext cx="2618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Best Use Case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85505" y="4416996"/>
            <a:ext cx="30231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Access layer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35266" y="4416996"/>
            <a:ext cx="30255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Core / Distribution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D60980-77A5-AA88-55E5-0539F546BB4B}"/>
              </a:ext>
            </a:extLst>
          </p:cNvPr>
          <p:cNvSpPr/>
          <p:nvPr/>
        </p:nvSpPr>
        <p:spPr>
          <a:xfrm>
            <a:off x="7955280" y="4818185"/>
            <a:ext cx="1188720" cy="264519"/>
          </a:xfrm>
          <a:prstGeom prst="rect">
            <a:avLst/>
          </a:prstGeom>
          <a:solidFill>
            <a:srgbClr val="0D0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4950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Takeaways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1061963"/>
            <a:ext cx="199355" cy="1993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8018" y="1057870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Unified Performance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928018" y="1252215"/>
            <a:ext cx="429086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Multilayer switches deliver </a:t>
            </a: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hardware-accelerated routing and switching</a:t>
            </a: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in a single device, eliminating bottlenecks.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2231173"/>
            <a:ext cx="199355" cy="1993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8018" y="2179184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Enterprise-Ready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928018" y="2366459"/>
            <a:ext cx="4290864" cy="67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With Inter-VLAN routing, QoS, and ACLs, MLS devices are purpose-built for </a:t>
            </a: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scalable, secure campus and data center networks</a:t>
            </a: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570249"/>
            <a:ext cx="199355" cy="1993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8235" y="356091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Strategic Investment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878235" y="3766170"/>
            <a:ext cx="429086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Despite higher cost and complexity, the </a:t>
            </a: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performance gains and operational simplicity</a:t>
            </a: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make MLS the right choice for core network layers.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95474" y="4156472"/>
            <a:ext cx="45234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676</Words>
  <Application>Microsoft Office PowerPoint</Application>
  <PresentationFormat>On-screen Show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Stuti</dc:creator>
  <cp:lastModifiedBy>stuti shah</cp:lastModifiedBy>
  <cp:revision>3</cp:revision>
  <dcterms:created xsi:type="dcterms:W3CDTF">2026-07-03T13:55:49Z</dcterms:created>
  <dcterms:modified xsi:type="dcterms:W3CDTF">2026-07-03T14:26:22Z</dcterms:modified>
</cp:coreProperties>
</file>